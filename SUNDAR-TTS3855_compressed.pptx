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77" r:id="rId12"/>
    <p:sldId id="290" r:id="rId13"/>
    <p:sldId id="292" r:id="rId14"/>
    <p:sldId id="293" r:id="rId15"/>
    <p:sldId id="286" r:id="rId16"/>
    <p:sldId id="287" r:id="rId17"/>
    <p:sldId id="280" r:id="rId18"/>
    <p:sldId id="288" r:id="rId19"/>
    <p:sldId id="289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</a:t>
            </a:r>
            <a:r>
              <a:rPr lang="en-US" b="1" i="1" dirty="0" smtClean="0"/>
              <a:t>”</a:t>
            </a:r>
          </a:p>
          <a:p>
            <a:pPr algn="ctr"/>
            <a:r>
              <a:rPr lang="en-US" b="1" i="1" dirty="0" smtClean="0"/>
              <a:t>DR.R.SUNDAR</a:t>
            </a:r>
          </a:p>
          <a:p>
            <a:pPr algn="ctr"/>
            <a:r>
              <a:rPr lang="en-US" b="1" i="1" dirty="0" smtClean="0"/>
              <a:t>TTS3855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xmlns="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     DR.R.SUNDAR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   drsundarr@veltech.edu.in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        8220644899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>
                <a:highlight>
                  <a:srgbClr val="FFFF00"/>
                </a:highlight>
              </a:rPr>
              <a:t>[</a:t>
            </a:r>
            <a:r>
              <a:rPr lang="en-US" sz="2400" dirty="0" smtClean="0"/>
              <a:t>E-Commerce</a:t>
            </a:r>
            <a:r>
              <a:rPr lang="en-US" sz="2400" b="1" dirty="0" smtClean="0">
                <a:highlight>
                  <a:srgbClr val="FFFF00"/>
                </a:highlight>
              </a:rPr>
              <a:t>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smtClean="0">
                <a:highlight>
                  <a:srgbClr val="FFFF00"/>
                </a:highlight>
              </a:rPr>
              <a:t>[Intelligent Shopping Agent]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/>
              <a:t/>
            </a: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Problem Statement No.11: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Intelligent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Shopping Agent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Challenge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Shoppers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today face an overload of product options, scattered reviews, and dynamic pricing across e-commerce platforms. Finding the right product that balances price, quality, and personal preferences is time-consuming and frustrating. Traditional recommendation systems often fail to capture real-time trends, personalized needs, or contextual factors like urgency, budget, or sustainability. The challenge is not just to recommend products but to act as a smart shopping companion that helps buyers make informed and confident decisions.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Objective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The Objective Build an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AI shopping assistant that provides intelligent, personalized, and real-time support. The solution should: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base"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Fuse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Multisource Data: Aggregate product details, reviews, ratings, and price comparisons across multiple e-commerce sites into unified insights.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base"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Enable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Multimodal Search: Allow users to input voice queries, images (e.g., a photo of a product), or text descriptions to find best-matching products.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base"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 Predictive &amp;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Layer: Suggest purchase timing (e.g., discounts, seasonal offers), recommend alternatives, and alert users about price drops or fake reviews. 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base">
              <a:buAutoNum type="arabicPeriod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Visualize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Smart Shopping Pulse: Provide a dashboard summarizing comparisons, sustainability scores, trending products, and personalized shopping lists.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xmlns="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algn="just"/>
            <a:r>
              <a:rPr lang="en-US" b="1" dirty="0" err="1" smtClean="0"/>
              <a:t>ShopSmart</a:t>
            </a:r>
            <a:r>
              <a:rPr lang="en-US" b="1" dirty="0" smtClean="0"/>
              <a:t> AI – An </a:t>
            </a:r>
            <a:r>
              <a:rPr lang="en-US" b="1" dirty="0" err="1" smtClean="0"/>
              <a:t>Agentic</a:t>
            </a:r>
            <a:r>
              <a:rPr lang="en-US" b="1" dirty="0" smtClean="0"/>
              <a:t> AI Powered Intelligent Shopping Assistant</a:t>
            </a:r>
            <a:endParaRPr lang="en-US" dirty="0" smtClean="0"/>
          </a:p>
          <a:p>
            <a:pPr algn="just"/>
            <a:r>
              <a:rPr lang="en-US" dirty="0" smtClean="0"/>
              <a:t>The proposed solution is </a:t>
            </a:r>
            <a:r>
              <a:rPr lang="en-US" b="1" dirty="0" err="1" smtClean="0"/>
              <a:t>ShopSmart</a:t>
            </a:r>
            <a:r>
              <a:rPr lang="en-US" b="1" dirty="0" smtClean="0"/>
              <a:t> AI</a:t>
            </a:r>
            <a:r>
              <a:rPr lang="en-US" dirty="0" smtClean="0"/>
              <a:t>, a </a:t>
            </a:r>
            <a:r>
              <a:rPr lang="en-US" b="1" dirty="0" smtClean="0"/>
              <a:t>multi-agent intelligent shopping assistant</a:t>
            </a:r>
            <a:r>
              <a:rPr lang="en-US" dirty="0" smtClean="0"/>
              <a:t> developed using </a:t>
            </a:r>
            <a:r>
              <a:rPr lang="en-US" b="1" dirty="0" smtClean="0"/>
              <a:t>IBM Bob, IBM Granite Models, IBM watsonx.ai, and Retrieval-Augmented Generation (RAG)</a:t>
            </a:r>
            <a:r>
              <a:rPr lang="en-US" dirty="0" smtClean="0"/>
              <a:t>. The system functions as a smart shopping companion that helps users make informed purchasing decisions by collecting and analyzing product information from multiple e-commerce platforms in real time.</a:t>
            </a:r>
          </a:p>
          <a:p>
            <a:pPr algn="just"/>
            <a:r>
              <a:rPr lang="en-US" dirty="0" smtClean="0"/>
              <a:t>The solution employs a </a:t>
            </a:r>
            <a:r>
              <a:rPr lang="en-US" b="1" dirty="0" smtClean="0"/>
              <a:t>multi-agent architecture</a:t>
            </a:r>
            <a:r>
              <a:rPr lang="en-US" dirty="0" smtClean="0"/>
              <a:t>, where each AI agent is responsible for a specific task. The </a:t>
            </a:r>
            <a:r>
              <a:rPr lang="en-US" b="1" dirty="0" smtClean="0"/>
              <a:t>Product Search Agent</a:t>
            </a:r>
            <a:r>
              <a:rPr lang="en-US" dirty="0" smtClean="0"/>
              <a:t> retrieves product details from multiple online shopping platforms. The </a:t>
            </a:r>
            <a:r>
              <a:rPr lang="en-US" b="1" dirty="0" smtClean="0"/>
              <a:t>Price Comparison Agent</a:t>
            </a:r>
            <a:r>
              <a:rPr lang="en-US" dirty="0" smtClean="0"/>
              <a:t> compares prices, discounts, delivery charges, and offers to identify the best value. The </a:t>
            </a:r>
            <a:r>
              <a:rPr lang="en-US" b="1" dirty="0" smtClean="0"/>
              <a:t>Review Analysis Agent</a:t>
            </a:r>
            <a:r>
              <a:rPr lang="en-US" dirty="0" smtClean="0"/>
              <a:t> uses IBM Granite models to summarize customer reviews, perform sentiment analysis, and detect fake or misleading reviews. The </a:t>
            </a:r>
            <a:r>
              <a:rPr lang="en-US" b="1" dirty="0" smtClean="0"/>
              <a:t>Recommendation Agent</a:t>
            </a:r>
            <a:r>
              <a:rPr lang="en-US" dirty="0" smtClean="0"/>
              <a:t> provides personalized product suggestions based on the user’s budget, preferences, brand choices, and previous shopping history. The </a:t>
            </a:r>
            <a:r>
              <a:rPr lang="en-US" b="1" dirty="0" smtClean="0"/>
              <a:t>Price Prediction Agent</a:t>
            </a:r>
            <a:r>
              <a:rPr lang="en-US" dirty="0" smtClean="0"/>
              <a:t> analyzes historical pricing patterns to predict future discounts and notify users of upcoming sales. Additionally, the </a:t>
            </a:r>
            <a:r>
              <a:rPr lang="en-US" b="1" dirty="0" smtClean="0"/>
              <a:t>Sustainability Agent</a:t>
            </a:r>
            <a:r>
              <a:rPr lang="en-US" dirty="0" smtClean="0"/>
              <a:t> evaluates products based on energy efficiency, eco-friendliness, and sustainability scores, helping users make environmentally responsible purchasing decisions.</a:t>
            </a:r>
          </a:p>
          <a:p>
            <a:pPr algn="just"/>
            <a:r>
              <a:rPr lang="en-US" dirty="0" smtClean="0"/>
              <a:t>The system integrates a </a:t>
            </a:r>
            <a:r>
              <a:rPr lang="en-US" b="1" dirty="0" smtClean="0"/>
              <a:t>Retrieval-Augmented Generation (RAG)</a:t>
            </a:r>
            <a:r>
              <a:rPr lang="en-US" dirty="0" smtClean="0"/>
              <a:t> pipeline, where product information, reviews, specifications, and pricing data are embedded into a </a:t>
            </a:r>
            <a:r>
              <a:rPr lang="en-US" b="1" dirty="0" smtClean="0"/>
              <a:t>FAISS/</a:t>
            </a:r>
            <a:r>
              <a:rPr lang="en-US" b="1" dirty="0" err="1" smtClean="0"/>
              <a:t>Chroma</a:t>
            </a:r>
            <a:r>
              <a:rPr lang="en-US" b="1" dirty="0" smtClean="0"/>
              <a:t> vector database</a:t>
            </a:r>
            <a:r>
              <a:rPr lang="en-US" dirty="0" smtClean="0"/>
              <a:t>. IBM Granite retrieves relevant information from this knowledge base before generating responses, ensuring accurate, reliable, and up-to-date recommendations.</a:t>
            </a:r>
          </a:p>
          <a:p>
            <a:pPr algn="just"/>
            <a:r>
              <a:rPr lang="en-US" dirty="0" smtClean="0"/>
              <a:t>A </a:t>
            </a:r>
            <a:r>
              <a:rPr lang="en-US" b="1" dirty="0" smtClean="0"/>
              <a:t>multimodal interface</a:t>
            </a:r>
            <a:r>
              <a:rPr lang="en-US" dirty="0" smtClean="0"/>
              <a:t> enables users to search using </a:t>
            </a:r>
            <a:r>
              <a:rPr lang="en-US" b="1" dirty="0" smtClean="0"/>
              <a:t>text, voice, or product images</a:t>
            </a:r>
            <a:r>
              <a:rPr lang="en-US" dirty="0" smtClean="0"/>
              <a:t>, making the shopping experience more intuitive and accessible. The solution also provides a </a:t>
            </a:r>
            <a:r>
              <a:rPr lang="en-US" b="1" dirty="0" smtClean="0"/>
              <a:t>Smart Shopping Dashboard</a:t>
            </a:r>
            <a:r>
              <a:rPr lang="en-US" dirty="0" smtClean="0"/>
              <a:t> that displays product comparisons, price trends, review summaries, sustainability scores, personalized shopping lists, and price-drop alerts in a single interface.</a:t>
            </a:r>
          </a:p>
          <a:p>
            <a:pPr algn="just"/>
            <a:r>
              <a:rPr lang="en-US" dirty="0" smtClean="0"/>
              <a:t>IBM Bob orchestrates the interaction among all specialized agents, while IBM watsonx.ai provides model deployment, embeddings, AI governance, and scalable execution. Overall, </a:t>
            </a:r>
            <a:r>
              <a:rPr lang="en-US" dirty="0" err="1" smtClean="0"/>
              <a:t>ShopSmart</a:t>
            </a:r>
            <a:r>
              <a:rPr lang="en-US" dirty="0" smtClean="0"/>
              <a:t> AI transforms conventional online shopping into an intelligent, personalized, and proactive decision-support system that saves time, reduces uncertainty, and improves customer satisfaction.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xmlns="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502920" y="1207009"/>
            <a:ext cx="1119225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IBM Bob </a:t>
            </a:r>
            <a:r>
              <a:rPr lang="en-US" sz="1800" b="1" dirty="0" smtClean="0"/>
              <a:t>Platform       </a:t>
            </a:r>
            <a:r>
              <a:rPr lang="en-US" sz="1800" dirty="0" smtClean="0"/>
              <a:t>Designs </a:t>
            </a:r>
            <a:r>
              <a:rPr lang="en-US" sz="1800" dirty="0" smtClean="0"/>
              <a:t>and orchestrates multi-agent AI workflows for intelligent shopping </a:t>
            </a:r>
            <a:r>
              <a:rPr lang="en-US" sz="1800" dirty="0" smtClean="0"/>
              <a:t>			            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IBM </a:t>
            </a:r>
            <a:r>
              <a:rPr lang="en-US" sz="1800" b="1" dirty="0" smtClean="0"/>
              <a:t>Granite 3.2 </a:t>
            </a:r>
            <a:r>
              <a:rPr lang="en-US" sz="1800" b="1" dirty="0" smtClean="0"/>
              <a:t>8B     </a:t>
            </a:r>
            <a:r>
              <a:rPr lang="en-US" sz="1800" dirty="0" smtClean="0"/>
              <a:t>Performs </a:t>
            </a:r>
            <a:r>
              <a:rPr lang="en-US" sz="1800" dirty="0" smtClean="0"/>
              <a:t>reasoning, product comparison, review summarization, fake review </a:t>
            </a:r>
            <a:r>
              <a:rPr lang="en-US" sz="1800" dirty="0" smtClean="0"/>
              <a:t>  			            detection</a:t>
            </a:r>
            <a:r>
              <a:rPr lang="en-US" sz="1800" dirty="0" smtClean="0"/>
              <a:t>, and personalized recommendations</a:t>
            </a:r>
            <a:r>
              <a:rPr lang="en-US" sz="18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IBM Cloud                   </a:t>
            </a:r>
            <a:r>
              <a:rPr lang="en-US" sz="1800" dirty="0" smtClean="0"/>
              <a:t>Provides </a:t>
            </a:r>
            <a:r>
              <a:rPr lang="en-US" sz="1800" dirty="0" smtClean="0"/>
              <a:t>secure, scalable infrastructure for deploying </a:t>
            </a:r>
            <a:r>
              <a:rPr lang="en-US" sz="1800" dirty="0" err="1" smtClean="0"/>
              <a:t>ShopSmart</a:t>
            </a:r>
            <a:r>
              <a:rPr lang="en-US" sz="1800" dirty="0" smtClean="0"/>
              <a:t> AI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RAG                             </a:t>
            </a:r>
            <a:r>
              <a:rPr lang="en-US" sz="1800" dirty="0" smtClean="0"/>
              <a:t>Retrieves </a:t>
            </a:r>
            <a:r>
              <a:rPr lang="en-US" sz="1800" dirty="0" smtClean="0"/>
              <a:t>real-time product data before generating intelligent responses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IBM watsonx.ai           </a:t>
            </a:r>
            <a:r>
              <a:rPr lang="en-US" sz="1800" dirty="0" smtClean="0"/>
              <a:t>Supports </a:t>
            </a:r>
            <a:r>
              <a:rPr lang="en-US" sz="1800" dirty="0" smtClean="0"/>
              <a:t>model deployment, embeddings, prompt engineering, and AI </a:t>
            </a:r>
            <a:r>
              <a:rPr lang="en-US" sz="1800" dirty="0" smtClean="0"/>
              <a:t>				             governance.</a:t>
            </a:r>
          </a:p>
          <a:p>
            <a:pPr marL="285750" indent="-285750"/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FAISS </a:t>
            </a:r>
            <a:r>
              <a:rPr lang="en-US" sz="1800" b="1" dirty="0" smtClean="0"/>
              <a:t>/ </a:t>
            </a:r>
            <a:r>
              <a:rPr lang="en-US" sz="1800" b="1" dirty="0" err="1" smtClean="0"/>
              <a:t>ChromaDB</a:t>
            </a:r>
            <a:r>
              <a:rPr lang="en-US" sz="1800" b="1" dirty="0" smtClean="0"/>
              <a:t>     </a:t>
            </a:r>
            <a:r>
              <a:rPr lang="en-US" sz="1800" dirty="0" smtClean="0"/>
              <a:t>Stores </a:t>
            </a:r>
            <a:r>
              <a:rPr lang="en-US" sz="1800" dirty="0" smtClean="0"/>
              <a:t>vector embeddings for semantic search and RAG-based product retrieval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 smtClean="0"/>
              <a:t>Streamlit</a:t>
            </a:r>
            <a:r>
              <a:rPr lang="en-US" sz="1800" b="1" dirty="0" smtClean="0"/>
              <a:t>                      </a:t>
            </a:r>
            <a:r>
              <a:rPr lang="en-US" sz="1800" dirty="0" smtClean="0"/>
              <a:t>Builds </a:t>
            </a:r>
            <a:r>
              <a:rPr lang="en-US" sz="1800" dirty="0" smtClean="0"/>
              <a:t>the Smart Shopping Dashboard for visualization and user interaction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Python                         </a:t>
            </a:r>
            <a:r>
              <a:rPr lang="en-US" sz="1800" dirty="0" smtClean="0"/>
              <a:t>Implements </a:t>
            </a:r>
            <a:r>
              <a:rPr lang="en-US" sz="1800" dirty="0" smtClean="0"/>
              <a:t>backend services, API integration, and multi-agent communication.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xmlns="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50" name="AutoShape 2" descr="Generated image: VS Code with ShopSmart AI confi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Generated image: VS Code with ShopSmart AI confi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Generated image: VS Code with ShopSmart AI confi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655" name="Picture 7" descr="C:\Users\Student\Desktop\624ea0fc-4200-41dd-9ee8-50475808524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7681" y="2012950"/>
            <a:ext cx="7135240" cy="36654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25601" name="Picture 1" descr="C:\Users\Student\Downloads\ChatGPT Image Jul 3, 2026, 12_03_04 P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1088" y="987552"/>
            <a:ext cx="10690352" cy="53588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 descr="Generated image: Intelligent shopping agent project setu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6" name="AutoShape 4" descr="Generated image: Intelligent shopping agent project setu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8" name="AutoShape 6" descr="Generated image: Intelligent shopping agent project setu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559" name="Picture 7" descr="C:\Users\Student\Downloads\ChatGPT Image Jul 3, 2026, 12_07_57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6696" y="441325"/>
            <a:ext cx="10407904" cy="56942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22529" name="Picture 1" descr="C:\Users\Student\Downloads\ChatGPT Image Jul 3, 2026, 12_10_52 P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650" y="744601"/>
            <a:ext cx="10750550" cy="5899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6657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1024128" y="219456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                   Role </a:t>
            </a:r>
            <a:r>
              <a:rPr lang="en-US" sz="3200" b="1" dirty="0"/>
              <a:t>of </a:t>
            </a:r>
            <a:r>
              <a:rPr lang="en-US" sz="3200" b="1" dirty="0" err="1"/>
              <a:t>Agentic</a:t>
            </a:r>
            <a:r>
              <a:rPr lang="en-US" sz="3200" b="1" dirty="0"/>
              <a:t>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274320" y="733246"/>
            <a:ext cx="88422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gentic</a:t>
            </a:r>
            <a:r>
              <a:rPr lang="en-US" b="1" dirty="0" smtClean="0"/>
              <a:t> AI</a:t>
            </a:r>
            <a:r>
              <a:rPr lang="en-US" dirty="0" smtClean="0"/>
              <a:t> serves as the intelligent decision-making core of the </a:t>
            </a:r>
            <a:r>
              <a:rPr lang="en-US" b="1" dirty="0" err="1" smtClean="0"/>
              <a:t>ShopSmart</a:t>
            </a:r>
            <a:r>
              <a:rPr lang="en-US" b="1" dirty="0" smtClean="0"/>
              <a:t> AI – Intelligent Shopping Agent</a:t>
            </a:r>
            <a:r>
              <a:rPr lang="en-US" dirty="0" smtClean="0"/>
              <a:t>. Instead of functioning as a single </a:t>
            </a:r>
            <a:r>
              <a:rPr lang="en-US" dirty="0" err="1" smtClean="0"/>
              <a:t>chatbot</a:t>
            </a:r>
            <a:r>
              <a:rPr lang="en-US" dirty="0" smtClean="0"/>
              <a:t>, it coordinates multiple specialized AI agents that work collaboratively to provide personalized, accurate, and real-time shopping assistance. Each agent performs a dedicated task while sharing information with other agents to deliver comprehensive recommendations.</a:t>
            </a:r>
          </a:p>
          <a:p>
            <a:r>
              <a:rPr lang="en-US" b="1" dirty="0" smtClean="0"/>
              <a:t>Roles of </a:t>
            </a:r>
            <a:r>
              <a:rPr lang="en-US" b="1" dirty="0" err="1" smtClean="0"/>
              <a:t>Agentic</a:t>
            </a:r>
            <a:r>
              <a:rPr lang="en-US" b="1" dirty="0" smtClean="0"/>
              <a:t> AI</a:t>
            </a:r>
          </a:p>
          <a:p>
            <a:r>
              <a:rPr lang="en-US" b="1" dirty="0" smtClean="0"/>
              <a:t>Product Search Agent:</a:t>
            </a:r>
            <a:r>
              <a:rPr lang="en-US" dirty="0" smtClean="0"/>
              <a:t> Retrieves products from multiple e-commerce platforms based on user preferences. </a:t>
            </a:r>
          </a:p>
          <a:p>
            <a:r>
              <a:rPr lang="en-US" b="1" dirty="0" smtClean="0"/>
              <a:t>Price Comparison Agent:</a:t>
            </a:r>
            <a:r>
              <a:rPr lang="en-US" dirty="0" smtClean="0"/>
              <a:t> Compares prices, discounts, offers, shipping costs, and warranties to identify the best deal. </a:t>
            </a:r>
          </a:p>
          <a:p>
            <a:r>
              <a:rPr lang="en-US" b="1" dirty="0" smtClean="0"/>
              <a:t>Review Analysis Agent:</a:t>
            </a:r>
            <a:r>
              <a:rPr lang="en-US" dirty="0" smtClean="0"/>
              <a:t> Analyzes customer reviews using IBM Granite, summarizes feedback, and detects fake or misleading reviews. </a:t>
            </a:r>
          </a:p>
          <a:p>
            <a:r>
              <a:rPr lang="en-US" b="1" dirty="0" smtClean="0"/>
              <a:t>Recommendation Agent:</a:t>
            </a:r>
            <a:r>
              <a:rPr lang="en-US" dirty="0" smtClean="0"/>
              <a:t> Suggests personalized products by considering user preferences, budget, ratings, and previous shopping behavior. </a:t>
            </a:r>
          </a:p>
          <a:p>
            <a:r>
              <a:rPr lang="en-US" b="1" dirty="0" smtClean="0"/>
              <a:t>Price Prediction Agent:</a:t>
            </a:r>
            <a:r>
              <a:rPr lang="en-US" dirty="0" smtClean="0"/>
              <a:t> Predicts future price trends and recommends the best time to purchase based on historical pricing data. </a:t>
            </a:r>
          </a:p>
          <a:p>
            <a:r>
              <a:rPr lang="en-US" b="1" dirty="0" smtClean="0"/>
              <a:t>Sustainability Agent:</a:t>
            </a:r>
            <a:r>
              <a:rPr lang="en-US" dirty="0" smtClean="0"/>
              <a:t> Evaluates products using eco-friendly and sustainability metrics, helping users make environmentally responsible purchasing decisions. </a:t>
            </a:r>
          </a:p>
          <a:p>
            <a:r>
              <a:rPr lang="en-US" b="1" dirty="0" smtClean="0"/>
              <a:t>Notification Agent:</a:t>
            </a:r>
            <a:r>
              <a:rPr lang="en-US" dirty="0" smtClean="0"/>
              <a:t> Sends alerts for price drops, limited-time offers, restocked products, and shopping reminders. </a:t>
            </a:r>
          </a:p>
          <a:p>
            <a:r>
              <a:rPr lang="en-US" b="1" dirty="0" smtClean="0"/>
              <a:t>Benefits of </a:t>
            </a:r>
            <a:r>
              <a:rPr lang="en-US" b="1" dirty="0" err="1" smtClean="0"/>
              <a:t>Agentic</a:t>
            </a:r>
            <a:r>
              <a:rPr lang="en-US" b="1" dirty="0" smtClean="0"/>
              <a:t> AI</a:t>
            </a:r>
          </a:p>
          <a:p>
            <a:r>
              <a:rPr lang="en-US" dirty="0" smtClean="0"/>
              <a:t>Enables autonomous collaboration among multiple AI agents. </a:t>
            </a:r>
          </a:p>
          <a:p>
            <a:r>
              <a:rPr lang="en-US" dirty="0" smtClean="0"/>
              <a:t>Provides personalized and context-aware shopping recommendations. </a:t>
            </a:r>
          </a:p>
          <a:p>
            <a:r>
              <a:rPr lang="en-US" dirty="0" smtClean="0"/>
              <a:t>Reduces the time required to compare products across platforms. </a:t>
            </a:r>
          </a:p>
          <a:p>
            <a:r>
              <a:rPr lang="en-US" dirty="0" smtClean="0"/>
              <a:t>Improves decision-making using real-time product data through RAG. </a:t>
            </a:r>
          </a:p>
          <a:p>
            <a:r>
              <a:rPr lang="en-US" dirty="0" smtClean="0"/>
              <a:t>Detects fake reviews and increases customer trust. </a:t>
            </a:r>
          </a:p>
          <a:p>
            <a:r>
              <a:rPr lang="en-US" dirty="0" smtClean="0"/>
              <a:t>Predicts discounts and price drops for smarter purchasing decisions. </a:t>
            </a:r>
          </a:p>
          <a:p>
            <a:r>
              <a:rPr lang="en-US" dirty="0" smtClean="0"/>
              <a:t>Supports multimodal interaction through text, voice, and image search. </a:t>
            </a:r>
          </a:p>
          <a:p>
            <a:r>
              <a:rPr lang="en-US" dirty="0" smtClean="0"/>
              <a:t>Continuously learns from user preferences to improve future recommendations.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18433" name="Picture 1" descr="C:\Users\Student\Downloads\ChatGPT Image Jul 3, 2026, 12_18_02 P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9184" y="578485"/>
            <a:ext cx="10801096" cy="5975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6" name="AutoShape 2" descr="Intelligent shopping dashboard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87" name="Picture 3" descr="C:\Users\Student\Desktop\600bbeca-41bd-474e-81cc-13f5cb80289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400" y="667511"/>
            <a:ext cx="10075672" cy="5650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4337" name="Picture 1" descr="C:\Users\Student\Downloads\ChatGPT Image Jul 3, 2026, 12_25_32 P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518" y="678942"/>
            <a:ext cx="11214100" cy="5657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2289" name="Picture 1" descr="C:\Users\Student\Downloads\ChatGPT Image Jul 3, 2026, 12_27_43 P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7984" y="630935"/>
            <a:ext cx="10617200" cy="51663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384048" y="868680"/>
            <a:ext cx="11807952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The </a:t>
            </a:r>
            <a:r>
              <a:rPr lang="en-US" sz="1800" dirty="0" smtClean="0"/>
              <a:t>proposed </a:t>
            </a:r>
            <a:r>
              <a:rPr lang="en-US" sz="1800" b="1" dirty="0" err="1" smtClean="0"/>
              <a:t>ShopSmart</a:t>
            </a:r>
            <a:r>
              <a:rPr lang="en-US" sz="1800" b="1" dirty="0" smtClean="0"/>
              <a:t> AI – Intelligent Shopping Agent</a:t>
            </a:r>
            <a:r>
              <a:rPr lang="en-US" sz="1800" dirty="0" smtClean="0"/>
              <a:t> stands out by integrating </a:t>
            </a:r>
            <a:r>
              <a:rPr lang="en-US" sz="1800" b="1" dirty="0" err="1" smtClean="0"/>
              <a:t>Agentic</a:t>
            </a:r>
            <a:r>
              <a:rPr lang="en-US" sz="1800" b="1" dirty="0" smtClean="0"/>
              <a:t> AI, Retrieval-Augmented Generation (RAG), multimodal intelligence, and predictive analytics</a:t>
            </a:r>
            <a:r>
              <a:rPr lang="en-US" sz="1800" dirty="0" smtClean="0"/>
              <a:t> into a single intelligent shopping ecosystem.</a:t>
            </a:r>
          </a:p>
          <a:p>
            <a:r>
              <a:rPr lang="en-US" sz="1800" b="1" dirty="0" smtClean="0"/>
              <a:t>Multi-Agent Intelligence</a:t>
            </a:r>
          </a:p>
          <a:p>
            <a:r>
              <a:rPr lang="en-US" sz="1800" dirty="0" smtClean="0"/>
              <a:t>Instead of relying on a single </a:t>
            </a:r>
            <a:r>
              <a:rPr lang="en-US" sz="1800" dirty="0" err="1" smtClean="0"/>
              <a:t>chatbot</a:t>
            </a:r>
            <a:r>
              <a:rPr lang="en-US" sz="1800" dirty="0" smtClean="0"/>
              <a:t>, multiple specialized AI agents collaboratively perform product search, price comparison, review analysis, recommendation generation, price prediction, and sustainability assessment to deliver accurate, context-aware, and personalized shopping assistance.</a:t>
            </a:r>
          </a:p>
          <a:p>
            <a:r>
              <a:rPr lang="en-US" sz="1800" b="1" dirty="0" smtClean="0"/>
              <a:t>RAG-Based Accuracy</a:t>
            </a:r>
          </a:p>
          <a:p>
            <a:r>
              <a:rPr lang="en-US" sz="1800" dirty="0" smtClean="0"/>
              <a:t>Integrates </a:t>
            </a:r>
            <a:r>
              <a:rPr lang="en-US" sz="1800" b="1" dirty="0" smtClean="0"/>
              <a:t>Retrieval-Augmented Generation (RAG)</a:t>
            </a:r>
            <a:r>
              <a:rPr lang="en-US" sz="1800" dirty="0" smtClean="0"/>
              <a:t> to retrieve real-time product information, specifications, customer reviews, ratings, and pricing from multiple trusted sources before generating recommendations, ensuring reliable and up-to-date shopping insights.</a:t>
            </a:r>
          </a:p>
          <a:p>
            <a:r>
              <a:rPr lang="en-US" sz="1800" b="1" dirty="0" smtClean="0"/>
              <a:t>Hyper-Personalized Recommendations</a:t>
            </a:r>
          </a:p>
          <a:p>
            <a:r>
              <a:rPr lang="en-US" sz="1800" dirty="0" smtClean="0"/>
              <a:t>Provides personalized product recommendations based on </a:t>
            </a:r>
            <a:r>
              <a:rPr lang="en-US" sz="1800" b="1" dirty="0" smtClean="0"/>
              <a:t>user preferences, shopping history, budget, brand choices, lifestyle, and purchasing behavior</a:t>
            </a:r>
            <a:r>
              <a:rPr lang="en-US" sz="1800" dirty="0" smtClean="0"/>
              <a:t>, enabling smarter and more relevant buying decisions.</a:t>
            </a:r>
          </a:p>
          <a:p>
            <a:r>
              <a:rPr lang="en-US" sz="1800" b="1" dirty="0" smtClean="0"/>
              <a:t>Real-Time Shopping Intelligence</a:t>
            </a:r>
          </a:p>
          <a:p>
            <a:r>
              <a:rPr lang="en-US" sz="1800" dirty="0" smtClean="0"/>
              <a:t>Continuously monitors product prices, discounts, seasonal offers, stock availability, and market trends to recommend the best purchase timing and notify users about price drops and special deals.</a:t>
            </a:r>
          </a:p>
          <a:p>
            <a:r>
              <a:rPr lang="en-US" sz="1800" b="1" dirty="0" smtClean="0"/>
              <a:t>Scalable &amp; Enterprise-Ready</a:t>
            </a:r>
          </a:p>
          <a:p>
            <a:r>
              <a:rPr lang="en-US" sz="1800" dirty="0" smtClean="0"/>
              <a:t>Built on </a:t>
            </a:r>
            <a:r>
              <a:rPr lang="en-US" sz="1800" b="1" dirty="0" smtClean="0"/>
              <a:t>IBM Bob, IBM watsonx.ai, IBM Granite foundation models, IBM Cloud, and RAG architecture</a:t>
            </a:r>
            <a:r>
              <a:rPr lang="en-US" sz="1800" dirty="0" smtClean="0"/>
              <a:t>, ensuring scalability, security, governance, and enterprise-grade performance for real-world deployment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322612" y="12812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Git</a:t>
            </a:r>
            <a:r>
              <a:rPr lang="en-US" sz="2400" b="1" dirty="0">
                <a:sym typeface="Times New Roman"/>
              </a:rPr>
              <a:t>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384048" y="649224"/>
            <a:ext cx="11027664" cy="608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</a:t>
            </a:r>
            <a:r>
              <a:rPr lang="en-US" sz="20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public </a:t>
            </a:r>
            <a:r>
              <a:rPr lang="en-US" sz="200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</a:t>
            </a:r>
            <a:r>
              <a:rPr lang="en-US" sz="200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</a:t>
            </a:r>
            <a:endParaRPr lang="en-US" sz="20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200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/>
              <a:t>1. </a:t>
            </a:r>
            <a:r>
              <a:rPr lang="en-US" sz="2000" b="1" dirty="0" smtClean="0"/>
              <a:t>All Agent Relevant Files of IBM Cloud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https://</a:t>
            </a:r>
            <a:r>
              <a:rPr lang="en-US" sz="2000" dirty="0" smtClean="0"/>
              <a:t>github.com/abc123/ShopSmart-AI-Intelligent-Shopping-Agent/tree/main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2</a:t>
            </a:r>
            <a:r>
              <a:rPr lang="en-US" sz="2000" b="1" dirty="0" smtClean="0"/>
              <a:t>. Problem Statement PDF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https://</a:t>
            </a:r>
            <a:r>
              <a:rPr lang="en-US" sz="2000" dirty="0" smtClean="0"/>
              <a:t>github.com/abc123/ShopSmart-AI-Intelligent-Shopping-Agent/blob/main/ProblemStatement11_IntelligentShoppingAgent.pdf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3. </a:t>
            </a:r>
            <a:r>
              <a:rPr lang="en-US" sz="2000" b="1" dirty="0" smtClean="0"/>
              <a:t>Project Presentation PPT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https://github.com/abc123/ShopSmart-AI-Intelligent-Shopping-Agent/blob/main/ShopSmart_AI_ProjectPresentation.pptx</a:t>
            </a:r>
            <a:br>
              <a:rPr lang="en-US" sz="2000" dirty="0" smtClean="0"/>
            </a:br>
            <a:r>
              <a:rPr lang="en-US" sz="2000" dirty="0" smtClean="0"/>
              <a:t>4</a:t>
            </a:r>
            <a:r>
              <a:rPr lang="en-US" sz="2000" b="1" dirty="0" smtClean="0"/>
              <a:t>. Other Supporting Files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https://github.com/abc123/ShopSmart-AI-Intelligent-Shopping-Agent/tree/main/Documents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585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AI-Powered Augmented Reality (AR) Shopping Experience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Augmented Reality (AR)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allow users to virtually try products such as clothing, furniture, and accessories before purchasing. This will improve customer confidence, reduce product returns, and enhance the overall online shopping experience.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-Based Product Authenticity &amp; Smart Supply Chain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technology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verify product authenticity, track the supply chain, and prevent counterfeit products. This will increase transparency, build customer trust, and ensure secure and reliable shopping experiences.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4101" name="Picture 5" descr="C:\Users\Student\Downloads\IBMDesign20260703-7-vgw14z_page-0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9368" y="1225296"/>
            <a:ext cx="10058400" cy="50657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073" name="Picture 1" descr="C:\Users\Student\Downloads\Completion Certificate _ SkillsBuild_page-0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300" y="1499616"/>
            <a:ext cx="10691813" cy="5358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06610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1351</Words>
  <Application>Microsoft Office PowerPoint</Application>
  <PresentationFormat>Custom</PresentationFormat>
  <Paragraphs>150</Paragraphs>
  <Slides>20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IBM University Engagement Project Submission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Student</cp:lastModifiedBy>
  <cp:revision>25</cp:revision>
  <dcterms:created xsi:type="dcterms:W3CDTF">2025-07-08T05:06:56Z</dcterms:created>
  <dcterms:modified xsi:type="dcterms:W3CDTF">2026-07-03T07:28:30Z</dcterms:modified>
</cp:coreProperties>
</file>